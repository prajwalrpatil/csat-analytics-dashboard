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5" r:id="rId4"/>
  </p:sldMasterIdLst>
  <p:notesMasterIdLst>
    <p:notesMasterId r:id="rId17"/>
  </p:notesMasterIdLst>
  <p:handoutMasterIdLst>
    <p:handoutMasterId r:id="rId18"/>
  </p:handoutMasterIdLst>
  <p:sldIdLst>
    <p:sldId id="260" r:id="rId5"/>
    <p:sldId id="272" r:id="rId6"/>
    <p:sldId id="273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C9550-7685-49DC-A823-FAD9B1E1D0B1}" v="20" dt="2026-06-05T09:51:03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napToGrid="0">
      <p:cViewPr>
        <p:scale>
          <a:sx n="100" d="100"/>
          <a:sy n="100" d="100"/>
        </p:scale>
        <p:origin x="58" y="-54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9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95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4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27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1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2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73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9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59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2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4752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507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9524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79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60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03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881E108-F384-A315-D627-5984C66E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7C1CCF7-5B2C-35CC-DBB9-2CE06DC4A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90" name="Freeform 68">
                <a:extLst>
                  <a:ext uri="{FF2B5EF4-FFF2-40B4-BE49-F238E27FC236}">
                    <a16:creationId xmlns:a16="http://schemas.microsoft.com/office/drawing/2014/main" id="{18C15660-4DED-02FA-9562-504977CD68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69">
                <a:extLst>
                  <a:ext uri="{FF2B5EF4-FFF2-40B4-BE49-F238E27FC236}">
                    <a16:creationId xmlns:a16="http://schemas.microsoft.com/office/drawing/2014/main" id="{072BDACB-931A-F55A-B289-32AFDCB9E5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Line 70">
                <a:extLst>
                  <a:ext uri="{FF2B5EF4-FFF2-40B4-BE49-F238E27FC236}">
                    <a16:creationId xmlns:a16="http://schemas.microsoft.com/office/drawing/2014/main" id="{A34FD5E0-67CD-A986-9673-4DEDB837A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DFF58B2-6BF5-7AA2-99C7-8C8997684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184B759-837D-B79D-8489-BF2033D794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6F7D36D-4939-33BD-C165-7116F0B98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8" name="Freeform 64">
                  <a:extLst>
                    <a:ext uri="{FF2B5EF4-FFF2-40B4-BE49-F238E27FC236}">
                      <a16:creationId xmlns:a16="http://schemas.microsoft.com/office/drawing/2014/main" id="{39CF26D7-6B87-3153-4F82-3642929F2CA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1">
                  <a:extLst>
                    <a:ext uri="{FF2B5EF4-FFF2-40B4-BE49-F238E27FC236}">
                      <a16:creationId xmlns:a16="http://schemas.microsoft.com/office/drawing/2014/main" id="{60E9FE59-21FD-F26A-8B04-F00B513D9B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1">
                  <a:extLst>
                    <a:ext uri="{FF2B5EF4-FFF2-40B4-BE49-F238E27FC236}">
                      <a16:creationId xmlns:a16="http://schemas.microsoft.com/office/drawing/2014/main" id="{76E57C18-1792-97B2-3EA4-2227216ACA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78">
                  <a:extLst>
                    <a:ext uri="{FF2B5EF4-FFF2-40B4-BE49-F238E27FC236}">
                      <a16:creationId xmlns:a16="http://schemas.microsoft.com/office/drawing/2014/main" id="{3FAD6F0C-C11A-8E35-6E49-CC816C9783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84">
                  <a:extLst>
                    <a:ext uri="{FF2B5EF4-FFF2-40B4-BE49-F238E27FC236}">
                      <a16:creationId xmlns:a16="http://schemas.microsoft.com/office/drawing/2014/main" id="{9F5A8A2A-D14B-7B3F-5837-0C5DDD9E80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87">
                  <a:extLst>
                    <a:ext uri="{FF2B5EF4-FFF2-40B4-BE49-F238E27FC236}">
                      <a16:creationId xmlns:a16="http://schemas.microsoft.com/office/drawing/2014/main" id="{04A52456-CA7C-B910-7DD3-FDF3F02234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60">
                  <a:extLst>
                    <a:ext uri="{FF2B5EF4-FFF2-40B4-BE49-F238E27FC236}">
                      <a16:creationId xmlns:a16="http://schemas.microsoft.com/office/drawing/2014/main" id="{8415C7E0-168E-583A-3D8E-13A0BECB6E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59">
                  <a:extLst>
                    <a:ext uri="{FF2B5EF4-FFF2-40B4-BE49-F238E27FC236}">
                      <a16:creationId xmlns:a16="http://schemas.microsoft.com/office/drawing/2014/main" id="{E84EF13A-F9BF-D114-CB2F-BAD322E48A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62">
                  <a:extLst>
                    <a:ext uri="{FF2B5EF4-FFF2-40B4-BE49-F238E27FC236}">
                      <a16:creationId xmlns:a16="http://schemas.microsoft.com/office/drawing/2014/main" id="{7635AFC9-6470-8D17-0699-3241CE2DE0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65">
                  <a:extLst>
                    <a:ext uri="{FF2B5EF4-FFF2-40B4-BE49-F238E27FC236}">
                      <a16:creationId xmlns:a16="http://schemas.microsoft.com/office/drawing/2014/main" id="{791500EF-3034-425E-4CB3-882A7C2D0F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79">
                  <a:extLst>
                    <a:ext uri="{FF2B5EF4-FFF2-40B4-BE49-F238E27FC236}">
                      <a16:creationId xmlns:a16="http://schemas.microsoft.com/office/drawing/2014/main" id="{302E1F2F-459F-7DDA-362C-03E7EE4BCB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Freeform 82">
                  <a:extLst>
                    <a:ext uri="{FF2B5EF4-FFF2-40B4-BE49-F238E27FC236}">
                      <a16:creationId xmlns:a16="http://schemas.microsoft.com/office/drawing/2014/main" id="{39D9EE3B-A0D7-E4FC-9046-5C97668711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85">
                  <a:extLst>
                    <a:ext uri="{FF2B5EF4-FFF2-40B4-BE49-F238E27FC236}">
                      <a16:creationId xmlns:a16="http://schemas.microsoft.com/office/drawing/2014/main" id="{BB7ED61D-F228-3585-0563-330602FFB3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Freeform 88">
                  <a:extLst>
                    <a:ext uri="{FF2B5EF4-FFF2-40B4-BE49-F238E27FC236}">
                      <a16:creationId xmlns:a16="http://schemas.microsoft.com/office/drawing/2014/main" id="{8D6D1F50-C458-93FE-2C29-73F04AAF39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7C2B1F16-E91E-EEEA-3C21-7B069CE00B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83" name="Line 63">
                    <a:extLst>
                      <a:ext uri="{FF2B5EF4-FFF2-40B4-BE49-F238E27FC236}">
                        <a16:creationId xmlns:a16="http://schemas.microsoft.com/office/drawing/2014/main" id="{751BADD6-70CB-D6E4-DE92-76B1A4C2E7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66">
                    <a:extLst>
                      <a:ext uri="{FF2B5EF4-FFF2-40B4-BE49-F238E27FC236}">
                        <a16:creationId xmlns:a16="http://schemas.microsoft.com/office/drawing/2014/main" id="{859ECE72-C252-77AA-D9A2-9BA1D9A6450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67">
                    <a:extLst>
                      <a:ext uri="{FF2B5EF4-FFF2-40B4-BE49-F238E27FC236}">
                        <a16:creationId xmlns:a16="http://schemas.microsoft.com/office/drawing/2014/main" id="{DBABDC38-A611-E865-1F52-62CA48E76F6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6" name="Line 80">
                    <a:extLst>
                      <a:ext uri="{FF2B5EF4-FFF2-40B4-BE49-F238E27FC236}">
                        <a16:creationId xmlns:a16="http://schemas.microsoft.com/office/drawing/2014/main" id="{FC53D630-F42E-2033-5860-1939673F720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7" name="Line 83">
                    <a:extLst>
                      <a:ext uri="{FF2B5EF4-FFF2-40B4-BE49-F238E27FC236}">
                        <a16:creationId xmlns:a16="http://schemas.microsoft.com/office/drawing/2014/main" id="{EC021795-C29B-11C0-E5B2-AF136EE09B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8" name="Line 86">
                    <a:extLst>
                      <a:ext uri="{FF2B5EF4-FFF2-40B4-BE49-F238E27FC236}">
                        <a16:creationId xmlns:a16="http://schemas.microsoft.com/office/drawing/2014/main" id="{89127066-0EC1-E69B-2763-17EF53F77D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9" name="Line 89">
                    <a:extLst>
                      <a:ext uri="{FF2B5EF4-FFF2-40B4-BE49-F238E27FC236}">
                        <a16:creationId xmlns:a16="http://schemas.microsoft.com/office/drawing/2014/main" id="{6B6CD59F-3CDF-DC2F-7629-7D25456A1A5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1AEC402E-386A-ABCA-FAED-AC35560FFD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D05B1D61-BF79-CE17-3316-E22D6375DD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3C1121DD-6D2D-F6DD-13EB-5BA4FEEC669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1916FB59-99AD-CD5D-43A7-7DFCE4405C2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" name="Rectangle 30">
                    <a:extLst>
                      <a:ext uri="{FF2B5EF4-FFF2-40B4-BE49-F238E27FC236}">
                        <a16:creationId xmlns:a16="http://schemas.microsoft.com/office/drawing/2014/main" id="{D65EFF6D-F07E-8BD8-4231-62761F20D5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" name="Rectangle 30">
                    <a:extLst>
                      <a:ext uri="{FF2B5EF4-FFF2-40B4-BE49-F238E27FC236}">
                        <a16:creationId xmlns:a16="http://schemas.microsoft.com/office/drawing/2014/main" id="{288BBD12-64D8-2967-BD02-82576A7A738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F4834E8D-D6E4-CAB3-9A98-0065273DA5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62" name="Freeform: Shape 57">
                    <a:extLst>
                      <a:ext uri="{FF2B5EF4-FFF2-40B4-BE49-F238E27FC236}">
                        <a16:creationId xmlns:a16="http://schemas.microsoft.com/office/drawing/2014/main" id="{81F30DBC-DD75-CAAB-A919-54CD8C595B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Freeform: Shape 58">
                    <a:extLst>
                      <a:ext uri="{FF2B5EF4-FFF2-40B4-BE49-F238E27FC236}">
                        <a16:creationId xmlns:a16="http://schemas.microsoft.com/office/drawing/2014/main" id="{5622C940-8B4B-FCC6-D6C5-C3A5B5887A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170620AC-69C7-F05B-0FE6-F2A7B36974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866B0E7-3452-342A-E947-5D1B43B538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8" name="Freeform 68">
                    <a:extLst>
                      <a:ext uri="{FF2B5EF4-FFF2-40B4-BE49-F238E27FC236}">
                        <a16:creationId xmlns:a16="http://schemas.microsoft.com/office/drawing/2014/main" id="{F0A66C71-2E93-8634-693C-65995DDB8C3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69">
                    <a:extLst>
                      <a:ext uri="{FF2B5EF4-FFF2-40B4-BE49-F238E27FC236}">
                        <a16:creationId xmlns:a16="http://schemas.microsoft.com/office/drawing/2014/main" id="{B3DCBCA0-C178-92E8-D0AE-6C88604CA4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7" name="Line 70">
                  <a:extLst>
                    <a:ext uri="{FF2B5EF4-FFF2-40B4-BE49-F238E27FC236}">
                      <a16:creationId xmlns:a16="http://schemas.microsoft.com/office/drawing/2014/main" id="{54962A78-719A-152A-D66A-645612403E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D8826F-87D1-0808-28F0-C30249A4D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C5D1AE4-7639-F7C4-B0F2-6DC1C6D53C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B31C545-6261-4C90-7449-B0FA0F14B1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30" name="Freeform 64">
                  <a:extLst>
                    <a:ext uri="{FF2B5EF4-FFF2-40B4-BE49-F238E27FC236}">
                      <a16:creationId xmlns:a16="http://schemas.microsoft.com/office/drawing/2014/main" id="{CCFF55EE-F463-5AA3-EA8E-FC71AD5E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1">
                  <a:extLst>
                    <a:ext uri="{FF2B5EF4-FFF2-40B4-BE49-F238E27FC236}">
                      <a16:creationId xmlns:a16="http://schemas.microsoft.com/office/drawing/2014/main" id="{8A64BA49-D64D-5135-432E-F837497AD3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1">
                  <a:extLst>
                    <a:ext uri="{FF2B5EF4-FFF2-40B4-BE49-F238E27FC236}">
                      <a16:creationId xmlns:a16="http://schemas.microsoft.com/office/drawing/2014/main" id="{53E1B766-53A4-5272-89AA-5097B67ED7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78">
                  <a:extLst>
                    <a:ext uri="{FF2B5EF4-FFF2-40B4-BE49-F238E27FC236}">
                      <a16:creationId xmlns:a16="http://schemas.microsoft.com/office/drawing/2014/main" id="{B9E623EF-3B1E-5902-5A98-8B0276FEED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84">
                  <a:extLst>
                    <a:ext uri="{FF2B5EF4-FFF2-40B4-BE49-F238E27FC236}">
                      <a16:creationId xmlns:a16="http://schemas.microsoft.com/office/drawing/2014/main" id="{A5E08108-7FFE-988A-27B4-42DC2081A6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87">
                  <a:extLst>
                    <a:ext uri="{FF2B5EF4-FFF2-40B4-BE49-F238E27FC236}">
                      <a16:creationId xmlns:a16="http://schemas.microsoft.com/office/drawing/2014/main" id="{773E0169-06B0-CD91-ED69-C5FFA3ABA3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0">
                  <a:extLst>
                    <a:ext uri="{FF2B5EF4-FFF2-40B4-BE49-F238E27FC236}">
                      <a16:creationId xmlns:a16="http://schemas.microsoft.com/office/drawing/2014/main" id="{32E5E29B-D991-75B8-F1CC-E87F58BE97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59">
                  <a:extLst>
                    <a:ext uri="{FF2B5EF4-FFF2-40B4-BE49-F238E27FC236}">
                      <a16:creationId xmlns:a16="http://schemas.microsoft.com/office/drawing/2014/main" id="{DAC2C0F6-D327-B680-AD0E-29DEFE82D5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62">
                  <a:extLst>
                    <a:ext uri="{FF2B5EF4-FFF2-40B4-BE49-F238E27FC236}">
                      <a16:creationId xmlns:a16="http://schemas.microsoft.com/office/drawing/2014/main" id="{DCFACFB9-BC70-8E9B-94B0-EC3990E331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5">
                  <a:extLst>
                    <a:ext uri="{FF2B5EF4-FFF2-40B4-BE49-F238E27FC236}">
                      <a16:creationId xmlns:a16="http://schemas.microsoft.com/office/drawing/2014/main" id="{0C0243D7-FD13-096E-A535-BCB0E882F0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79">
                  <a:extLst>
                    <a:ext uri="{FF2B5EF4-FFF2-40B4-BE49-F238E27FC236}">
                      <a16:creationId xmlns:a16="http://schemas.microsoft.com/office/drawing/2014/main" id="{E40ADF36-29F2-197F-CA56-7F3C21A9E5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82">
                  <a:extLst>
                    <a:ext uri="{FF2B5EF4-FFF2-40B4-BE49-F238E27FC236}">
                      <a16:creationId xmlns:a16="http://schemas.microsoft.com/office/drawing/2014/main" id="{D4040157-022D-D2D3-BA51-FF1AC48D06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85">
                  <a:extLst>
                    <a:ext uri="{FF2B5EF4-FFF2-40B4-BE49-F238E27FC236}">
                      <a16:creationId xmlns:a16="http://schemas.microsoft.com/office/drawing/2014/main" id="{D5D04681-B3BF-355E-9F72-D6D5C614702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Freeform 88">
                  <a:extLst>
                    <a:ext uri="{FF2B5EF4-FFF2-40B4-BE49-F238E27FC236}">
                      <a16:creationId xmlns:a16="http://schemas.microsoft.com/office/drawing/2014/main" id="{F5274D01-718C-8DAB-E10E-EAA275C140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2A7203C8-6D5A-D15D-479C-B62F49E395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5" name="Line 63">
                    <a:extLst>
                      <a:ext uri="{FF2B5EF4-FFF2-40B4-BE49-F238E27FC236}">
                        <a16:creationId xmlns:a16="http://schemas.microsoft.com/office/drawing/2014/main" id="{F2A721C4-BB1C-B475-8E9F-0E532E92B8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66">
                    <a:extLst>
                      <a:ext uri="{FF2B5EF4-FFF2-40B4-BE49-F238E27FC236}">
                        <a16:creationId xmlns:a16="http://schemas.microsoft.com/office/drawing/2014/main" id="{A4D10222-27E8-65CC-D891-16EC7A9F19B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67">
                    <a:extLst>
                      <a:ext uri="{FF2B5EF4-FFF2-40B4-BE49-F238E27FC236}">
                        <a16:creationId xmlns:a16="http://schemas.microsoft.com/office/drawing/2014/main" id="{FF2F28B6-2337-C329-446A-56A59192E6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Line 80">
                    <a:extLst>
                      <a:ext uri="{FF2B5EF4-FFF2-40B4-BE49-F238E27FC236}">
                        <a16:creationId xmlns:a16="http://schemas.microsoft.com/office/drawing/2014/main" id="{446022E5-729D-E059-0EFB-60DCD3D206C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Line 83">
                    <a:extLst>
                      <a:ext uri="{FF2B5EF4-FFF2-40B4-BE49-F238E27FC236}">
                        <a16:creationId xmlns:a16="http://schemas.microsoft.com/office/drawing/2014/main" id="{34B448DD-DB51-4BFE-7391-F0E77F0D1A5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0" name="Line 86">
                    <a:extLst>
                      <a:ext uri="{FF2B5EF4-FFF2-40B4-BE49-F238E27FC236}">
                        <a16:creationId xmlns:a16="http://schemas.microsoft.com/office/drawing/2014/main" id="{C4ECBED7-4DF3-07D4-C903-0C3466F436E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1" name="Line 89">
                    <a:extLst>
                      <a:ext uri="{FF2B5EF4-FFF2-40B4-BE49-F238E27FC236}">
                        <a16:creationId xmlns:a16="http://schemas.microsoft.com/office/drawing/2014/main" id="{17BEFC7B-EF7B-E701-5F94-14A5003FA1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0A31DDE-6294-E350-9B31-BB2AED729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C308B80-05DF-C878-E68E-CA949D8CBF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17C14F70-099F-64BE-337A-A8DEA8609BC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7302A6CE-C651-7A36-FDA2-A75E7A144AC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Rectangle 30">
                    <a:extLst>
                      <a:ext uri="{FF2B5EF4-FFF2-40B4-BE49-F238E27FC236}">
                        <a16:creationId xmlns:a16="http://schemas.microsoft.com/office/drawing/2014/main" id="{39947FB4-DB7C-9FAD-FE53-C3E8C9938B3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 30">
                    <a:extLst>
                      <a:ext uri="{FF2B5EF4-FFF2-40B4-BE49-F238E27FC236}">
                        <a16:creationId xmlns:a16="http://schemas.microsoft.com/office/drawing/2014/main" id="{C8624528-A8A2-42DC-9965-2F3A1539C8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116FC009-ECC3-11A8-69FC-5F228B3DB1E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4" name="Freeform: Shape 19">
                    <a:extLst>
                      <a:ext uri="{FF2B5EF4-FFF2-40B4-BE49-F238E27FC236}">
                        <a16:creationId xmlns:a16="http://schemas.microsoft.com/office/drawing/2014/main" id="{5B77C78C-0E98-59B7-DCF8-A595970FF5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Freeform: Shape 20">
                    <a:extLst>
                      <a:ext uri="{FF2B5EF4-FFF2-40B4-BE49-F238E27FC236}">
                        <a16:creationId xmlns:a16="http://schemas.microsoft.com/office/drawing/2014/main" id="{AC070F26-D4E6-B35D-46F5-C2314E2A2D9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FC4E3AA-C659-9DCF-D8B3-5B1DA91518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E5D597-F494-4B41-736C-52EB1CB893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0" name="Freeform 68">
                    <a:extLst>
                      <a:ext uri="{FF2B5EF4-FFF2-40B4-BE49-F238E27FC236}">
                        <a16:creationId xmlns:a16="http://schemas.microsoft.com/office/drawing/2014/main" id="{61A2931B-FF2A-975B-AB37-71DF0F3418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69">
                    <a:extLst>
                      <a:ext uri="{FF2B5EF4-FFF2-40B4-BE49-F238E27FC236}">
                        <a16:creationId xmlns:a16="http://schemas.microsoft.com/office/drawing/2014/main" id="{AA86D59E-5FB1-7C95-B65B-A960F5A9034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" name="Line 70">
                  <a:extLst>
                    <a:ext uri="{FF2B5EF4-FFF2-40B4-BE49-F238E27FC236}">
                      <a16:creationId xmlns:a16="http://schemas.microsoft.com/office/drawing/2014/main" id="{D4441001-2EF5-3871-F7E0-4165E5A190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6F731B-8969-3200-B9DB-3E8612A79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4408" y="3883294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0B95CA7-7C33-82C1-25FB-B083614FA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97234"/>
            <a:ext cx="5852160" cy="292545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8955AA8-3423-1402-F58D-56D367DC7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143898"/>
            <a:ext cx="5852160" cy="1545336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35586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6128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4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Vector">
            <a:extLst>
              <a:ext uri="{FF2B5EF4-FFF2-40B4-BE49-F238E27FC236}">
                <a16:creationId xmlns:a16="http://schemas.microsoft.com/office/drawing/2014/main" id="{00CDC658-A6F6-5658-3A53-5BC88F7EF3AC}"/>
              </a:ext>
            </a:extLst>
          </p:cNvPr>
          <p:cNvGrpSpPr/>
          <p:nvPr/>
        </p:nvGrpSpPr>
        <p:grpSpPr>
          <a:xfrm>
            <a:off x="268449" y="457964"/>
            <a:ext cx="2227875" cy="5970551"/>
            <a:chOff x="268449" y="457964"/>
            <a:chExt cx="2227875" cy="59705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558385A-FBF5-E7C2-C216-0F09392A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5095" y="457964"/>
              <a:ext cx="2211229" cy="2707415"/>
              <a:chOff x="9728105" y="457964"/>
              <a:chExt cx="2211229" cy="270741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930D5B6-DFED-B550-7D11-39B0DE497D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360DDD4-298A-89DE-FA5D-979D371598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5D2DB3B7-52E8-5842-C5B4-CC2A04A40F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B89BB2BB-80C0-BAEB-0FAB-E2D6CBA39F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 30">
                    <a:extLst>
                      <a:ext uri="{FF2B5EF4-FFF2-40B4-BE49-F238E27FC236}">
                        <a16:creationId xmlns:a16="http://schemas.microsoft.com/office/drawing/2014/main" id="{7B112078-076C-C536-76D4-324507E725A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0">
                    <a:extLst>
                      <a:ext uri="{FF2B5EF4-FFF2-40B4-BE49-F238E27FC236}">
                        <a16:creationId xmlns:a16="http://schemas.microsoft.com/office/drawing/2014/main" id="{6029C372-14FB-3B0B-F1BE-DA206A2BE14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C5A5830-350B-9CD2-8321-8E2D47A2E9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2" name="Freeform: Shape 101">
                    <a:extLst>
                      <a:ext uri="{FF2B5EF4-FFF2-40B4-BE49-F238E27FC236}">
                        <a16:creationId xmlns:a16="http://schemas.microsoft.com/office/drawing/2014/main" id="{86E560FA-66CD-71F7-71FB-5624F46067A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Freeform: Shape 102">
                    <a:extLst>
                      <a:ext uri="{FF2B5EF4-FFF2-40B4-BE49-F238E27FC236}">
                        <a16:creationId xmlns:a16="http://schemas.microsoft.com/office/drawing/2014/main" id="{7AB96093-1181-E260-C34F-0575B79407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8D173A6-B48F-E510-1D43-D816184D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6225E14-5F55-FABA-8A8F-EB2FAE361C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8" name="Freeform 68">
                    <a:extLst>
                      <a:ext uri="{FF2B5EF4-FFF2-40B4-BE49-F238E27FC236}">
                        <a16:creationId xmlns:a16="http://schemas.microsoft.com/office/drawing/2014/main" id="{3194F6C1-E4B7-0E2B-733A-24891B05AF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69">
                    <a:extLst>
                      <a:ext uri="{FF2B5EF4-FFF2-40B4-BE49-F238E27FC236}">
                        <a16:creationId xmlns:a16="http://schemas.microsoft.com/office/drawing/2014/main" id="{13982ED7-7305-6127-8E74-7A0D424DD7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DE9F9315-2552-CFF1-3A8D-089F1163E8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EC0931-A9B9-CE3B-EB79-20CE3DA7B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 flipV="1">
              <a:off x="268449" y="3721100"/>
              <a:ext cx="2211229" cy="2707415"/>
              <a:chOff x="9728105" y="457964"/>
              <a:chExt cx="2211229" cy="270741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42CFB89-2BD1-A481-A47A-0AA2686982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9725E02-6FCE-0485-9FD9-29C78765D4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AE0C473C-2E38-911B-354B-7EA8C7DDFF5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4DEC9451-A999-C0B6-E336-87087AC21EF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Rectangle 30">
                    <a:extLst>
                      <a:ext uri="{FF2B5EF4-FFF2-40B4-BE49-F238E27FC236}">
                        <a16:creationId xmlns:a16="http://schemas.microsoft.com/office/drawing/2014/main" id="{C93C83FF-ED97-CB06-8900-778CE38D88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30">
                    <a:extLst>
                      <a:ext uri="{FF2B5EF4-FFF2-40B4-BE49-F238E27FC236}">
                        <a16:creationId xmlns:a16="http://schemas.microsoft.com/office/drawing/2014/main" id="{3F73A54B-E99C-76B0-C985-5CDFAF27B83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4FFA0E4-5AD0-A26D-201A-FD581F0F63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8" name="Freeform: Shape 116">
                    <a:extLst>
                      <a:ext uri="{FF2B5EF4-FFF2-40B4-BE49-F238E27FC236}">
                        <a16:creationId xmlns:a16="http://schemas.microsoft.com/office/drawing/2014/main" id="{1B881B1E-6677-15E6-67D6-A9E3DE2CEB5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Freeform: Shape 117">
                    <a:extLst>
                      <a:ext uri="{FF2B5EF4-FFF2-40B4-BE49-F238E27FC236}">
                        <a16:creationId xmlns:a16="http://schemas.microsoft.com/office/drawing/2014/main" id="{DEB9A344-C951-EEA7-CEDD-11F0006B30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E5A2BEE-0017-56AA-A161-97325E2271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F2906AFB-F142-CCE3-1225-D96320E803A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4" name="Freeform 68">
                    <a:extLst>
                      <a:ext uri="{FF2B5EF4-FFF2-40B4-BE49-F238E27FC236}">
                        <a16:creationId xmlns:a16="http://schemas.microsoft.com/office/drawing/2014/main" id="{0190AEE6-A40F-489A-BCFF-239BE1F1C9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Freeform 69">
                    <a:extLst>
                      <a:ext uri="{FF2B5EF4-FFF2-40B4-BE49-F238E27FC236}">
                        <a16:creationId xmlns:a16="http://schemas.microsoft.com/office/drawing/2014/main" id="{40A8EBB4-6E26-5A52-78D9-B2C48CB7125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C34A4D87-0628-3673-1195-2A7C3B50D89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B3D5AA-9117-2202-5527-3F96C9B9EC72}"/>
              </a:ext>
            </a:extLst>
          </p:cNvPr>
          <p:cNvCxnSpPr>
            <a:cxnSpLocks/>
          </p:cNvCxnSpPr>
          <p:nvPr userDrawn="1"/>
        </p:nvCxnSpPr>
        <p:spPr>
          <a:xfrm>
            <a:off x="3478911" y="5022408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4F08EBF-F0D1-CCB7-DDF6-D764A2A57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3279" y="2025536"/>
            <a:ext cx="8193023" cy="27310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B343A649-C74E-CCE7-1671-661F9E232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4136" y="5288204"/>
            <a:ext cx="8193022" cy="883996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cap="all" spc="100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80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2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C08E8F-21C4-BDA0-1FEA-E51B8E9CB351}"/>
              </a:ext>
            </a:extLst>
          </p:cNvPr>
          <p:cNvGrpSpPr/>
          <p:nvPr/>
        </p:nvGrpSpPr>
        <p:grpSpPr>
          <a:xfrm flipH="1">
            <a:off x="9740417" y="457964"/>
            <a:ext cx="2227875" cy="5970551"/>
            <a:chOff x="9740417" y="457964"/>
            <a:chExt cx="2227875" cy="59705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65EDA3F-843D-ADBB-966A-DB1A2A516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9757063" y="457964"/>
              <a:ext cx="2211229" cy="2707415"/>
              <a:chOff x="9728105" y="457964"/>
              <a:chExt cx="2211229" cy="270741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1B5AC1E-4E60-E55C-F99A-C82C820F57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95710207-8E92-8065-A970-1DD14538E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42F4499F-CCFF-BE52-2AE4-5B68AED9B3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A8FAE142-A102-E457-095D-59B239E498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 30">
                    <a:extLst>
                      <a:ext uri="{FF2B5EF4-FFF2-40B4-BE49-F238E27FC236}">
                        <a16:creationId xmlns:a16="http://schemas.microsoft.com/office/drawing/2014/main" id="{FE818EA7-840E-B523-CA43-BE90E3B561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0">
                    <a:extLst>
                      <a:ext uri="{FF2B5EF4-FFF2-40B4-BE49-F238E27FC236}">
                        <a16:creationId xmlns:a16="http://schemas.microsoft.com/office/drawing/2014/main" id="{DBDA4452-94B1-8350-4FDB-EFB58824F80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B2F4B6F-70DB-7396-B99F-C4E444D9B4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2" name="Freeform: Shape 57">
                    <a:extLst>
                      <a:ext uri="{FF2B5EF4-FFF2-40B4-BE49-F238E27FC236}">
                        <a16:creationId xmlns:a16="http://schemas.microsoft.com/office/drawing/2014/main" id="{8BDDCFCA-0EF1-29B9-00F4-A588AF40008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Freeform: Shape 58">
                    <a:extLst>
                      <a:ext uri="{FF2B5EF4-FFF2-40B4-BE49-F238E27FC236}">
                        <a16:creationId xmlns:a16="http://schemas.microsoft.com/office/drawing/2014/main" id="{AC0DFEA6-DB81-94B0-E975-1C49757EA9E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F59F6E7-21D4-8707-43CA-087E19578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A38BAEA-44BA-7155-9C72-9138317A1F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8" name="Freeform 68">
                    <a:extLst>
                      <a:ext uri="{FF2B5EF4-FFF2-40B4-BE49-F238E27FC236}">
                        <a16:creationId xmlns:a16="http://schemas.microsoft.com/office/drawing/2014/main" id="{0BAF2DD0-AD60-8573-53DB-993D86BAA5B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69">
                    <a:extLst>
                      <a:ext uri="{FF2B5EF4-FFF2-40B4-BE49-F238E27FC236}">
                        <a16:creationId xmlns:a16="http://schemas.microsoft.com/office/drawing/2014/main" id="{520062C7-8B68-E834-D399-30EEC999AAA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103C961E-7827-DB34-96BE-56C18B33C8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31D031-9B96-5A75-6664-93344812D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V="1">
              <a:off x="9740417" y="3721100"/>
              <a:ext cx="2211229" cy="2707415"/>
              <a:chOff x="9728105" y="457964"/>
              <a:chExt cx="2211229" cy="270741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4126BE9-9F7A-9AF0-5260-977515529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906F989-CBC1-B62D-2528-65CA7B1A5C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1466E447-0F70-081B-1290-B8EE7C029D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23D0125F-AA06-77AC-1A70-35B4C3D151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Rectangle 30">
                    <a:extLst>
                      <a:ext uri="{FF2B5EF4-FFF2-40B4-BE49-F238E27FC236}">
                        <a16:creationId xmlns:a16="http://schemas.microsoft.com/office/drawing/2014/main" id="{9FB536AB-CC9D-EF43-764A-BDA6D35363F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30">
                    <a:extLst>
                      <a:ext uri="{FF2B5EF4-FFF2-40B4-BE49-F238E27FC236}">
                        <a16:creationId xmlns:a16="http://schemas.microsoft.com/office/drawing/2014/main" id="{27BCD93A-F6D3-B4BB-B4BD-3FB7B22982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914B0F9-E206-61B3-B94D-29E2B9E950B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8" name="Freeform: Shape 141">
                    <a:extLst>
                      <a:ext uri="{FF2B5EF4-FFF2-40B4-BE49-F238E27FC236}">
                        <a16:creationId xmlns:a16="http://schemas.microsoft.com/office/drawing/2014/main" id="{BE2287FA-B742-96AC-20EE-A120A175A7E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Freeform: Shape 142">
                    <a:extLst>
                      <a:ext uri="{FF2B5EF4-FFF2-40B4-BE49-F238E27FC236}">
                        <a16:creationId xmlns:a16="http://schemas.microsoft.com/office/drawing/2014/main" id="{ABD4CB87-7C84-CA5E-440C-0DBE244031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CB2077E-0279-E8FA-B509-2228C725C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B0BEA08B-F521-4923-A6BD-8D20C50809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4" name="Freeform 68">
                    <a:extLst>
                      <a:ext uri="{FF2B5EF4-FFF2-40B4-BE49-F238E27FC236}">
                        <a16:creationId xmlns:a16="http://schemas.microsoft.com/office/drawing/2014/main" id="{2EAC3EE0-4EEF-A6CF-D309-75B294E64DA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Freeform 69">
                    <a:extLst>
                      <a:ext uri="{FF2B5EF4-FFF2-40B4-BE49-F238E27FC236}">
                        <a16:creationId xmlns:a16="http://schemas.microsoft.com/office/drawing/2014/main" id="{7F448550-8EAB-AA60-AB70-359190C846A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7E2CFC90-E41C-9543-B005-9373338400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9571A4-6852-2595-903A-1B4CA40FC353}"/>
              </a:ext>
            </a:extLst>
          </p:cNvPr>
          <p:cNvCxnSpPr>
            <a:cxnSpLocks/>
          </p:cNvCxnSpPr>
          <p:nvPr userDrawn="1"/>
        </p:nvCxnSpPr>
        <p:spPr>
          <a:xfrm>
            <a:off x="714375" y="2494921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85800"/>
            <a:ext cx="8229600" cy="153278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771255"/>
            <a:ext cx="8226553" cy="3252513"/>
          </a:xfrm>
        </p:spPr>
        <p:txBody>
          <a:bodyPr>
            <a:no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sz="1800" cap="all" baseline="0"/>
            </a:lvl1pPr>
            <a:lvl2pPr marL="571500" indent="-342900">
              <a:buFont typeface="+mj-lt"/>
              <a:buAutoNum type="alphaLcPeriod"/>
              <a:defRPr sz="1800" cap="all"/>
            </a:lvl2pPr>
            <a:lvl3pPr marL="800100" indent="-342900">
              <a:buFont typeface="+mj-lt"/>
              <a:buAutoNum type="romanLcPeriod"/>
              <a:defRPr sz="1800" cap="all"/>
            </a:lvl3pPr>
            <a:lvl4pPr marL="1028700" indent="-342900">
              <a:buFont typeface="+mj-lt"/>
              <a:buAutoNum type="arabicParenR"/>
              <a:defRPr sz="1800" cap="all"/>
            </a:lvl4pPr>
            <a:lvl5pPr marL="1257300" indent="-342900">
              <a:buFont typeface="+mj-lt"/>
              <a:buAutoNum type="alphaLcParenR"/>
              <a:defRPr sz="1800" cap="all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993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21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C14383-F969-7F64-05B9-667C4A1E57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07143" y="3429000"/>
            <a:ext cx="54864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E3EB48D4-74F6-A14E-7A13-6572193D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700553"/>
            <a:ext cx="3651432" cy="34568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049C7FF-E413-2319-577F-E835FCB163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4648" y="685800"/>
            <a:ext cx="6367321" cy="5486400"/>
          </a:xfrm>
        </p:spPr>
        <p:txBody>
          <a:bodyPr anchor="ctr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66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1037"/>
            <a:ext cx="10963655" cy="91916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65" y="1825625"/>
            <a:ext cx="5075237" cy="43513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65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D5D837-2FD3-B65B-B967-2A54F9ECAB65}"/>
              </a:ext>
            </a:extLst>
          </p:cNvPr>
          <p:cNvCxnSpPr>
            <a:cxnSpLocks/>
          </p:cNvCxnSpPr>
          <p:nvPr userDrawn="1"/>
        </p:nvCxnSpPr>
        <p:spPr>
          <a:xfrm>
            <a:off x="714375" y="1859937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6D89D7DB-954A-9C21-F4F8-096B5AF8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9"/>
            <a:ext cx="10963656" cy="891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119673"/>
            <a:ext cx="10963656" cy="40572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824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46C6E13-5F92-0B54-E552-A8E8EA32109D}"/>
              </a:ext>
            </a:extLst>
          </p:cNvPr>
          <p:cNvGrpSpPr/>
          <p:nvPr/>
        </p:nvGrpSpPr>
        <p:grpSpPr>
          <a:xfrm flipH="1">
            <a:off x="8353425" y="531607"/>
            <a:ext cx="3838575" cy="6520778"/>
            <a:chOff x="192855" y="531607"/>
            <a:chExt cx="3838575" cy="652077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81DD79D-1CEE-4719-00FE-4FD53EA31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83418" y="-158956"/>
              <a:ext cx="2457450" cy="3838575"/>
              <a:chOff x="587376" y="280988"/>
              <a:chExt cx="2457450" cy="3838575"/>
            </a:xfrm>
          </p:grpSpPr>
          <p:sp>
            <p:nvSpPr>
              <p:cNvPr id="32" name="Freeform 64">
                <a:extLst>
                  <a:ext uri="{FF2B5EF4-FFF2-40B4-BE49-F238E27FC236}">
                    <a16:creationId xmlns:a16="http://schemas.microsoft.com/office/drawing/2014/main" id="{63458FA5-D071-3A46-EB12-8B6C8D6396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81">
                <a:extLst>
                  <a:ext uri="{FF2B5EF4-FFF2-40B4-BE49-F238E27FC236}">
                    <a16:creationId xmlns:a16="http://schemas.microsoft.com/office/drawing/2014/main" id="{4DD1D754-B9F5-6269-D3E0-370396165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61">
                <a:extLst>
                  <a:ext uri="{FF2B5EF4-FFF2-40B4-BE49-F238E27FC236}">
                    <a16:creationId xmlns:a16="http://schemas.microsoft.com/office/drawing/2014/main" id="{F3A3D4E7-3A71-4AB8-FB08-8CEDD527A7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497067EC-F598-B7C7-88F4-2F57F6D874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84">
                <a:extLst>
                  <a:ext uri="{FF2B5EF4-FFF2-40B4-BE49-F238E27FC236}">
                    <a16:creationId xmlns:a16="http://schemas.microsoft.com/office/drawing/2014/main" id="{1A115B41-BE53-1781-C3A0-8F7DBB6CF7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Freeform 87">
                <a:extLst>
                  <a:ext uri="{FF2B5EF4-FFF2-40B4-BE49-F238E27FC236}">
                    <a16:creationId xmlns:a16="http://schemas.microsoft.com/office/drawing/2014/main" id="{AD9F9AC4-59AA-3FED-EB58-ABCC8422A5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Freeform 60">
                <a:extLst>
                  <a:ext uri="{FF2B5EF4-FFF2-40B4-BE49-F238E27FC236}">
                    <a16:creationId xmlns:a16="http://schemas.microsoft.com/office/drawing/2014/main" id="{5C39FA36-DD8A-A8AF-995B-FEB1B81928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59">
                <a:extLst>
                  <a:ext uri="{FF2B5EF4-FFF2-40B4-BE49-F238E27FC236}">
                    <a16:creationId xmlns:a16="http://schemas.microsoft.com/office/drawing/2014/main" id="{0435A07F-ABFF-DBCD-9D6E-B060E7883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2">
                <a:extLst>
                  <a:ext uri="{FF2B5EF4-FFF2-40B4-BE49-F238E27FC236}">
                    <a16:creationId xmlns:a16="http://schemas.microsoft.com/office/drawing/2014/main" id="{F61ED471-E9B3-E6FF-4DA3-8663BAB6BB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65">
                <a:extLst>
                  <a:ext uri="{FF2B5EF4-FFF2-40B4-BE49-F238E27FC236}">
                    <a16:creationId xmlns:a16="http://schemas.microsoft.com/office/drawing/2014/main" id="{66D48908-5C19-CE7C-FB3B-E55D124BE8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79">
                <a:extLst>
                  <a:ext uri="{FF2B5EF4-FFF2-40B4-BE49-F238E27FC236}">
                    <a16:creationId xmlns:a16="http://schemas.microsoft.com/office/drawing/2014/main" id="{9EBA239B-B2C2-C1D7-42F7-BB50522E1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2">
                <a:extLst>
                  <a:ext uri="{FF2B5EF4-FFF2-40B4-BE49-F238E27FC236}">
                    <a16:creationId xmlns:a16="http://schemas.microsoft.com/office/drawing/2014/main" id="{7311065F-4C49-B37C-B6F2-EF021666B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85">
                <a:extLst>
                  <a:ext uri="{FF2B5EF4-FFF2-40B4-BE49-F238E27FC236}">
                    <a16:creationId xmlns:a16="http://schemas.microsoft.com/office/drawing/2014/main" id="{EADE6C0A-9B31-463A-DC31-450FBFB0EA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15F916F-BDD7-938C-7F9F-15FA32E2E2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A17F0837-6401-508D-9D16-AC64526C93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7" name="Line 63">
                  <a:extLst>
                    <a:ext uri="{FF2B5EF4-FFF2-40B4-BE49-F238E27FC236}">
                      <a16:creationId xmlns:a16="http://schemas.microsoft.com/office/drawing/2014/main" id="{201E24E4-9DA0-20F2-7AE3-5DA927CDF4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Line 66">
                  <a:extLst>
                    <a:ext uri="{FF2B5EF4-FFF2-40B4-BE49-F238E27FC236}">
                      <a16:creationId xmlns:a16="http://schemas.microsoft.com/office/drawing/2014/main" id="{F0D81B78-2590-5FE2-3E72-AED10BB9C8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9" name="Line 67">
                  <a:extLst>
                    <a:ext uri="{FF2B5EF4-FFF2-40B4-BE49-F238E27FC236}">
                      <a16:creationId xmlns:a16="http://schemas.microsoft.com/office/drawing/2014/main" id="{1B0E3C51-648E-EED1-D8E4-5C1A83A793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0" name="Line 80">
                  <a:extLst>
                    <a:ext uri="{FF2B5EF4-FFF2-40B4-BE49-F238E27FC236}">
                      <a16:creationId xmlns:a16="http://schemas.microsoft.com/office/drawing/2014/main" id="{B63F0A42-E73B-9C27-C8AC-5862ECD9A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Line 83">
                  <a:extLst>
                    <a:ext uri="{FF2B5EF4-FFF2-40B4-BE49-F238E27FC236}">
                      <a16:creationId xmlns:a16="http://schemas.microsoft.com/office/drawing/2014/main" id="{CFD7B0F1-6021-5D68-851A-183A3606E5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" name="Line 86">
                  <a:extLst>
                    <a:ext uri="{FF2B5EF4-FFF2-40B4-BE49-F238E27FC236}">
                      <a16:creationId xmlns:a16="http://schemas.microsoft.com/office/drawing/2014/main" id="{E63766C1-D1F5-CD70-020F-548E199476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3" name="Line 89">
                  <a:extLst>
                    <a:ext uri="{FF2B5EF4-FFF2-40B4-BE49-F238E27FC236}">
                      <a16:creationId xmlns:a16="http://schemas.microsoft.com/office/drawing/2014/main" id="{9A7C8B71-FD3E-CF93-F909-DC78EB1BFE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83BBBA-0866-8DA7-4C6B-39E534138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V="1">
              <a:off x="917093" y="3213810"/>
              <a:ext cx="2457450" cy="3838575"/>
              <a:chOff x="587376" y="280988"/>
              <a:chExt cx="2457450" cy="3838575"/>
            </a:xfrm>
          </p:grpSpPr>
          <p:sp>
            <p:nvSpPr>
              <p:cNvPr id="10" name="Freeform 64">
                <a:extLst>
                  <a:ext uri="{FF2B5EF4-FFF2-40B4-BE49-F238E27FC236}">
                    <a16:creationId xmlns:a16="http://schemas.microsoft.com/office/drawing/2014/main" id="{55F21049-C8CB-1413-A3F0-41A22AF2A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1">
                <a:extLst>
                  <a:ext uri="{FF2B5EF4-FFF2-40B4-BE49-F238E27FC236}">
                    <a16:creationId xmlns:a16="http://schemas.microsoft.com/office/drawing/2014/main" id="{173F64F1-9A9D-BC7E-B0A0-971F0F0F14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1">
                <a:extLst>
                  <a:ext uri="{FF2B5EF4-FFF2-40B4-BE49-F238E27FC236}">
                    <a16:creationId xmlns:a16="http://schemas.microsoft.com/office/drawing/2014/main" id="{B25A2E7D-3D32-4BB9-A01F-1F77476D5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78">
                <a:extLst>
                  <a:ext uri="{FF2B5EF4-FFF2-40B4-BE49-F238E27FC236}">
                    <a16:creationId xmlns:a16="http://schemas.microsoft.com/office/drawing/2014/main" id="{BD1373BC-8861-74A9-F90B-6D147FAB44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84">
                <a:extLst>
                  <a:ext uri="{FF2B5EF4-FFF2-40B4-BE49-F238E27FC236}">
                    <a16:creationId xmlns:a16="http://schemas.microsoft.com/office/drawing/2014/main" id="{1D0F6C7E-8186-9BA9-C089-F165E186A2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7">
                <a:extLst>
                  <a:ext uri="{FF2B5EF4-FFF2-40B4-BE49-F238E27FC236}">
                    <a16:creationId xmlns:a16="http://schemas.microsoft.com/office/drawing/2014/main" id="{359F8A83-D46B-F8FF-DC7C-3C04DCA8F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60">
                <a:extLst>
                  <a:ext uri="{FF2B5EF4-FFF2-40B4-BE49-F238E27FC236}">
                    <a16:creationId xmlns:a16="http://schemas.microsoft.com/office/drawing/2014/main" id="{BFC83E63-6FC3-C31E-98CE-21843812F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59">
                <a:extLst>
                  <a:ext uri="{FF2B5EF4-FFF2-40B4-BE49-F238E27FC236}">
                    <a16:creationId xmlns:a16="http://schemas.microsoft.com/office/drawing/2014/main" id="{302ABA44-3B57-F469-6C04-F66BDA7AE5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62">
                <a:extLst>
                  <a:ext uri="{FF2B5EF4-FFF2-40B4-BE49-F238E27FC236}">
                    <a16:creationId xmlns:a16="http://schemas.microsoft.com/office/drawing/2014/main" id="{7AEBB6FD-54FE-C7DA-9A26-50A06339E4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65">
                <a:extLst>
                  <a:ext uri="{FF2B5EF4-FFF2-40B4-BE49-F238E27FC236}">
                    <a16:creationId xmlns:a16="http://schemas.microsoft.com/office/drawing/2014/main" id="{5E33358E-58C6-D35A-1278-C81907C997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79">
                <a:extLst>
                  <a:ext uri="{FF2B5EF4-FFF2-40B4-BE49-F238E27FC236}">
                    <a16:creationId xmlns:a16="http://schemas.microsoft.com/office/drawing/2014/main" id="{03A5740E-D7E5-68C0-948E-9724E0ACF7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82">
                <a:extLst>
                  <a:ext uri="{FF2B5EF4-FFF2-40B4-BE49-F238E27FC236}">
                    <a16:creationId xmlns:a16="http://schemas.microsoft.com/office/drawing/2014/main" id="{8AB4DD54-E3B5-6D41-1243-6F2D21CD99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85">
                <a:extLst>
                  <a:ext uri="{FF2B5EF4-FFF2-40B4-BE49-F238E27FC236}">
                    <a16:creationId xmlns:a16="http://schemas.microsoft.com/office/drawing/2014/main" id="{2A94B732-4A98-2F5C-F80B-6BBDB47064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8">
                <a:extLst>
                  <a:ext uri="{FF2B5EF4-FFF2-40B4-BE49-F238E27FC236}">
                    <a16:creationId xmlns:a16="http://schemas.microsoft.com/office/drawing/2014/main" id="{DF1D8441-3705-CC80-FE5F-2A09989AAF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F71A31A-59B3-9162-371C-C01A729D0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25" name="Line 63">
                  <a:extLst>
                    <a:ext uri="{FF2B5EF4-FFF2-40B4-BE49-F238E27FC236}">
                      <a16:creationId xmlns:a16="http://schemas.microsoft.com/office/drawing/2014/main" id="{7CCBE56E-A31B-4C75-DC85-F53147C4D00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Line 66">
                  <a:extLst>
                    <a:ext uri="{FF2B5EF4-FFF2-40B4-BE49-F238E27FC236}">
                      <a16:creationId xmlns:a16="http://schemas.microsoft.com/office/drawing/2014/main" id="{296ACE92-E4E8-3DA8-53B5-B4C1E3A8D2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Line 67">
                  <a:extLst>
                    <a:ext uri="{FF2B5EF4-FFF2-40B4-BE49-F238E27FC236}">
                      <a16:creationId xmlns:a16="http://schemas.microsoft.com/office/drawing/2014/main" id="{7B0613D4-F0E5-89E7-9C18-8CFA239DF1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80">
                  <a:extLst>
                    <a:ext uri="{FF2B5EF4-FFF2-40B4-BE49-F238E27FC236}">
                      <a16:creationId xmlns:a16="http://schemas.microsoft.com/office/drawing/2014/main" id="{E622BCC5-94CF-3347-DA0D-7358D5BAEC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83">
                  <a:extLst>
                    <a:ext uri="{FF2B5EF4-FFF2-40B4-BE49-F238E27FC236}">
                      <a16:creationId xmlns:a16="http://schemas.microsoft.com/office/drawing/2014/main" id="{7A92BD29-9001-7192-3FC5-2BD68F7AF2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Line 86">
                  <a:extLst>
                    <a:ext uri="{FF2B5EF4-FFF2-40B4-BE49-F238E27FC236}">
                      <a16:creationId xmlns:a16="http://schemas.microsoft.com/office/drawing/2014/main" id="{538F5771-4928-1E01-FE11-700BA53138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89">
                  <a:extLst>
                    <a:ext uri="{FF2B5EF4-FFF2-40B4-BE49-F238E27FC236}">
                      <a16:creationId xmlns:a16="http://schemas.microsoft.com/office/drawing/2014/main" id="{7DCEABB5-FF34-2744-FB43-A0CE5EE8EB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4" name="Content Placeholder 53">
            <a:extLst>
              <a:ext uri="{FF2B5EF4-FFF2-40B4-BE49-F238E27FC236}">
                <a16:creationId xmlns:a16="http://schemas.microsoft.com/office/drawing/2014/main" id="{8FCCC77F-6C47-D9CF-D034-6C88D17987B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5313" y="660400"/>
            <a:ext cx="7821612" cy="4119563"/>
          </a:xfrm>
        </p:spPr>
        <p:txBody>
          <a:bodyPr anchor="b"/>
          <a:lstStyle>
            <a:lvl1pPr>
              <a:defRPr sz="23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3518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2" name="Title 61">
            <a:extLst>
              <a:ext uri="{FF2B5EF4-FFF2-40B4-BE49-F238E27FC236}">
                <a16:creationId xmlns:a16="http://schemas.microsoft.com/office/drawing/2014/main" id="{AB82C1FD-F89F-A137-0472-2D6FEB28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00730"/>
            <a:ext cx="7786687" cy="1097839"/>
          </a:xfrm>
        </p:spPr>
        <p:txBody>
          <a:bodyPr anchor="t"/>
          <a:lstStyle>
            <a:lvl1pPr>
              <a:lnSpc>
                <a:spcPct val="10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1494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2"/>
            <a:ext cx="9146080" cy="225078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9145953" cy="2620736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A21DAF-0680-3109-32D1-F2152B86C712}"/>
              </a:ext>
            </a:extLst>
          </p:cNvPr>
          <p:cNvCxnSpPr>
            <a:cxnSpLocks/>
          </p:cNvCxnSpPr>
          <p:nvPr userDrawn="1"/>
        </p:nvCxnSpPr>
        <p:spPr>
          <a:xfrm>
            <a:off x="714375" y="3182791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AC9AAAA-FF68-58B0-6AD3-81DAA78B9D79}"/>
              </a:ext>
            </a:extLst>
          </p:cNvPr>
          <p:cNvGrpSpPr/>
          <p:nvPr userDrawn="1"/>
        </p:nvGrpSpPr>
        <p:grpSpPr>
          <a:xfrm flipH="1">
            <a:off x="10414450" y="651327"/>
            <a:ext cx="698051" cy="1372591"/>
            <a:chOff x="1079500" y="649304"/>
            <a:chExt cx="698051" cy="137259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B2EA1E-B452-6BA4-E61C-1E0C336E7707}"/>
                </a:ext>
              </a:extLst>
            </p:cNvPr>
            <p:cNvSpPr/>
            <p:nvPr/>
          </p:nvSpPr>
          <p:spPr>
            <a:xfrm>
              <a:off x="1437136" y="649304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DB7CD0-2D95-5BC6-ABC1-BC54BD6C4008}"/>
                </a:ext>
              </a:extLst>
            </p:cNvPr>
            <p:cNvGrpSpPr/>
            <p:nvPr/>
          </p:nvGrpSpPr>
          <p:grpSpPr>
            <a:xfrm rot="10800000">
              <a:off x="1079500" y="952167"/>
              <a:ext cx="641184" cy="1069728"/>
              <a:chOff x="6484111" y="2967038"/>
              <a:chExt cx="641184" cy="106972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3D6FAD6-E7B1-971D-C962-F317FFDDF1A3}"/>
                  </a:ext>
                </a:extLst>
              </p:cNvPr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6" name="Freeform 68">
                  <a:extLst>
                    <a:ext uri="{FF2B5EF4-FFF2-40B4-BE49-F238E27FC236}">
                      <a16:creationId xmlns:a16="http://schemas.microsoft.com/office/drawing/2014/main" id="{FEFA5D29-9BA3-B2B0-658F-41E3FAAA39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69">
                  <a:extLst>
                    <a:ext uri="{FF2B5EF4-FFF2-40B4-BE49-F238E27FC236}">
                      <a16:creationId xmlns:a16="http://schemas.microsoft.com/office/drawing/2014/main" id="{F580CDFE-3C7E-D23E-EAA5-DD38817443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667E0D1B-7B9B-7A39-6166-7AFCC9386B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A8D3FD9-9675-FFF0-644E-B5C1A1ECE835}"/>
                  </a:ext>
                </a:extLst>
              </p:cNvPr>
              <p:cNvGrpSpPr/>
              <p:nvPr/>
            </p:nvGrpSpPr>
            <p:grpSpPr>
              <a:xfrm rot="18900000" flipH="1">
                <a:off x="6484111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3" name="Freeform 68">
                  <a:extLst>
                    <a:ext uri="{FF2B5EF4-FFF2-40B4-BE49-F238E27FC236}">
                      <a16:creationId xmlns:a16="http://schemas.microsoft.com/office/drawing/2014/main" id="{82ABA779-0915-5846-DFC5-5E96B4A972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Freeform 69">
                  <a:extLst>
                    <a:ext uri="{FF2B5EF4-FFF2-40B4-BE49-F238E27FC236}">
                      <a16:creationId xmlns:a16="http://schemas.microsoft.com/office/drawing/2014/main" id="{75B608AC-7F9B-F6BF-06DF-231BBDA3AF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2D2E2887-1666-122F-B8DA-A4C029AAA7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84022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898B5F-AB7B-74C1-BF81-2EBBA277CB0A}"/>
              </a:ext>
            </a:extLst>
          </p:cNvPr>
          <p:cNvGrpSpPr/>
          <p:nvPr/>
        </p:nvGrpSpPr>
        <p:grpSpPr>
          <a:xfrm flipH="1">
            <a:off x="9740417" y="457964"/>
            <a:ext cx="2227875" cy="5970551"/>
            <a:chOff x="9740417" y="457964"/>
            <a:chExt cx="2227875" cy="59705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5AD13E4-C736-C4D0-3329-881CFA91C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9757063" y="457964"/>
              <a:ext cx="2211229" cy="2707415"/>
              <a:chOff x="9728105" y="457964"/>
              <a:chExt cx="2211229" cy="270741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D7712BC-206D-B1BF-26E4-F924E900D1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B4DD0FA9-35AD-B9CB-6A43-73FB16AA4B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B34DDA94-22F2-1094-2D3C-DBDC0C363A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55A45A38-9585-93BE-7D81-140D05F385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 30">
                    <a:extLst>
                      <a:ext uri="{FF2B5EF4-FFF2-40B4-BE49-F238E27FC236}">
                        <a16:creationId xmlns:a16="http://schemas.microsoft.com/office/drawing/2014/main" id="{A3E11012-B90B-F52F-7684-926CA336E9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0">
                    <a:extLst>
                      <a:ext uri="{FF2B5EF4-FFF2-40B4-BE49-F238E27FC236}">
                        <a16:creationId xmlns:a16="http://schemas.microsoft.com/office/drawing/2014/main" id="{BE5AA1E3-A11C-0373-1D61-D0A9FE4617E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1D63B7A-DDB4-2C0B-1728-0D718F9E39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2" name="Freeform: Shape 57">
                    <a:extLst>
                      <a:ext uri="{FF2B5EF4-FFF2-40B4-BE49-F238E27FC236}">
                        <a16:creationId xmlns:a16="http://schemas.microsoft.com/office/drawing/2014/main" id="{80E2BC7D-E4BD-1454-C098-E5EDE269633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Freeform: Shape 58">
                    <a:extLst>
                      <a:ext uri="{FF2B5EF4-FFF2-40B4-BE49-F238E27FC236}">
                        <a16:creationId xmlns:a16="http://schemas.microsoft.com/office/drawing/2014/main" id="{B661F348-951D-D355-FE18-B5392C718B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8E45DB4-7A7F-E7F2-6CCB-5E621344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2D224138-06E2-E0AF-DE3A-E57A3358CB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8" name="Freeform 68">
                    <a:extLst>
                      <a:ext uri="{FF2B5EF4-FFF2-40B4-BE49-F238E27FC236}">
                        <a16:creationId xmlns:a16="http://schemas.microsoft.com/office/drawing/2014/main" id="{01AC57F7-CE8B-F99B-0F9A-7BEE21F8651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69">
                    <a:extLst>
                      <a:ext uri="{FF2B5EF4-FFF2-40B4-BE49-F238E27FC236}">
                        <a16:creationId xmlns:a16="http://schemas.microsoft.com/office/drawing/2014/main" id="{BCF0D402-7FE4-9FAC-4BC6-9DD325D1BCE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D05FDF64-168D-467A-6A78-2FA456716ED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8D64388-EE11-3AC7-CE32-5F667F63F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V="1">
              <a:off x="9740417" y="3721100"/>
              <a:ext cx="2211229" cy="2707415"/>
              <a:chOff x="9728105" y="457964"/>
              <a:chExt cx="2211229" cy="270741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A27A44E-F151-2A8C-9338-9747085C3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20BD2E44-9A02-DE19-97AB-DCFC7164C9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942C6307-1DD8-4291-5F56-1C701B3F131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1BAF2483-2C50-41D9-2806-86B3EA8B52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Rectangle 30">
                    <a:extLst>
                      <a:ext uri="{FF2B5EF4-FFF2-40B4-BE49-F238E27FC236}">
                        <a16:creationId xmlns:a16="http://schemas.microsoft.com/office/drawing/2014/main" id="{493CF191-5DDA-8462-AE83-CA01EB942EC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30">
                    <a:extLst>
                      <a:ext uri="{FF2B5EF4-FFF2-40B4-BE49-F238E27FC236}">
                        <a16:creationId xmlns:a16="http://schemas.microsoft.com/office/drawing/2014/main" id="{B16DA0CF-99DB-5B26-15CE-7A5C3FF5B55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969A3741-69D5-4A00-BE22-77B52FF20C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8" name="Freeform: Shape 141">
                    <a:extLst>
                      <a:ext uri="{FF2B5EF4-FFF2-40B4-BE49-F238E27FC236}">
                        <a16:creationId xmlns:a16="http://schemas.microsoft.com/office/drawing/2014/main" id="{CEB8C9BA-7217-3FF0-0000-F75245E6971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Freeform: Shape 142">
                    <a:extLst>
                      <a:ext uri="{FF2B5EF4-FFF2-40B4-BE49-F238E27FC236}">
                        <a16:creationId xmlns:a16="http://schemas.microsoft.com/office/drawing/2014/main" id="{2EBBFD8B-2D36-E329-EB66-AF3287A585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06447F1-9BEC-3B87-BB32-191FA43AF0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9" y="1917604"/>
                <a:ext cx="633413" cy="1862138"/>
                <a:chOff x="5959193" y="333389"/>
                <a:chExt cx="633413" cy="18621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9C5EF3DE-B07E-D485-E31C-3594D9BC20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4" name="Freeform 68">
                    <a:extLst>
                      <a:ext uri="{FF2B5EF4-FFF2-40B4-BE49-F238E27FC236}">
                        <a16:creationId xmlns:a16="http://schemas.microsoft.com/office/drawing/2014/main" id="{D3AFEFF8-8B08-9A6A-2ABC-B7AC1E804B4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" name="Freeform 69">
                    <a:extLst>
                      <a:ext uri="{FF2B5EF4-FFF2-40B4-BE49-F238E27FC236}">
                        <a16:creationId xmlns:a16="http://schemas.microsoft.com/office/drawing/2014/main" id="{911E6C5C-E6C0-1635-8A8E-18A6C9AC445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A3E77BF5-0B00-BE87-3AF1-AC7557C235E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8" name="Title 1">
            <a:extLst>
              <a:ext uri="{FF2B5EF4-FFF2-40B4-BE49-F238E27FC236}">
                <a16:creationId xmlns:a16="http://schemas.microsoft.com/office/drawing/2014/main" id="{ABDBC601-EF17-43ED-E11A-47AF443F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2"/>
            <a:ext cx="8226552" cy="225078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0FA9591D-3E3F-856B-F084-D47E87FA27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8226437" cy="2620736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8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343955"/>
            <a:ext cx="220264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3298" y="6343955"/>
            <a:ext cx="280540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993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456575F-43CC-E7A8-7305-3C73B4FC75BD}"/>
              </a:ext>
            </a:extLst>
          </p:cNvPr>
          <p:cNvCxnSpPr>
            <a:cxnSpLocks/>
          </p:cNvCxnSpPr>
          <p:nvPr userDrawn="1"/>
        </p:nvCxnSpPr>
        <p:spPr>
          <a:xfrm>
            <a:off x="714375" y="3182791"/>
            <a:ext cx="5486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9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9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6" r:id="rId1"/>
    <p:sldLayoutId id="2147484537" r:id="rId2"/>
    <p:sldLayoutId id="2147484538" r:id="rId3"/>
    <p:sldLayoutId id="2147484539" r:id="rId4"/>
    <p:sldLayoutId id="2147484540" r:id="rId5"/>
    <p:sldLayoutId id="2147484541" r:id="rId6"/>
    <p:sldLayoutId id="2147484542" r:id="rId7"/>
    <p:sldLayoutId id="2147484543" r:id="rId8"/>
    <p:sldLayoutId id="2147484544" r:id="rId9"/>
    <p:sldLayoutId id="2147484545" r:id="rId10"/>
    <p:sldLayoutId id="2147484546" r:id="rId11"/>
    <p:sldLayoutId id="2147484547" r:id="rId12"/>
    <p:sldLayoutId id="2147484548" r:id="rId13"/>
    <p:sldLayoutId id="2147484549" r:id="rId14"/>
    <p:sldLayoutId id="2147484550" r:id="rId15"/>
    <p:sldLayoutId id="2147484551" r:id="rId16"/>
    <p:sldLayoutId id="2147484552" r:id="rId17"/>
    <p:sldLayoutId id="2147484553" r:id="rId18"/>
    <p:sldLayoutId id="2147484554" r:id="rId19"/>
    <p:sldLayoutId id="2147484555" r:id="rId20"/>
    <p:sldLayoutId id="2147484556" r:id="rId21"/>
    <p:sldLayoutId id="2147484557" r:id="rId22"/>
    <p:sldLayoutId id="2147484558" r:id="rId23"/>
    <p:sldLayoutId id="2147484559" r:id="rId24"/>
    <p:sldLayoutId id="2147484560" r:id="rId2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97234"/>
            <a:ext cx="5852160" cy="1360635"/>
          </a:xfrm>
        </p:spPr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CSAT Analytics Dashboard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2429398"/>
            <a:ext cx="5852160" cy="3259836"/>
          </a:xfrm>
        </p:spPr>
        <p:txBody>
          <a:bodyPr/>
          <a:lstStyle/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Analyzing Customer Satisfaction to Improve Service Quality</a:t>
            </a:r>
          </a:p>
          <a:p>
            <a:endParaRPr lang="en-US" b="1" dirty="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</a:rPr>
              <a:t>Presented BY:</a:t>
            </a:r>
          </a:p>
          <a:p>
            <a:r>
              <a:rPr lang="en-US" sz="24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</a:rPr>
              <a:t>Prajwal r Patil</a:t>
            </a:r>
          </a:p>
          <a:p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Certified Data Analyst (CDA-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jan-05</a:t>
            </a:r>
            <a:r>
              <a:rPr lang="en-US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)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Register No: CA12202540402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dirty="0">
              <a:latin typeface="Apto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270B-934E-704C-9064-D2B980990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1279" y="392678"/>
            <a:ext cx="8350261" cy="904696"/>
          </a:xfrm>
        </p:spPr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Introduction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9AB09-A3A5-73F9-35A9-43F4BCBA5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4231" y="1441919"/>
            <a:ext cx="9075973" cy="44641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cap="none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Customer Satisfaction Score (CSAT) is an important metric used to measure customer experience and service quality.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  <a:ea typeface="+mn-lt"/>
              <a:cs typeface="+mn-lt"/>
            </a:endParaRPr>
          </a:p>
          <a:p>
            <a:r>
              <a:rPr lang="en-US" sz="2000" cap="none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Organizations use CSAT analysis to understand customer feedback, identify service gaps, and improve customer interactions. 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  <a:ea typeface="+mn-lt"/>
              <a:cs typeface="+mn-lt"/>
            </a:endParaRPr>
          </a:p>
          <a:p>
            <a:r>
              <a:rPr lang="en-US" sz="2000" cap="none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This project focuses on analyzing customer satisfaction data using Power BI to identify trends, measure performance, and generate insights through interactive dashboards. 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  <a:ea typeface="+mn-lt"/>
              <a:cs typeface="+mn-lt"/>
            </a:endParaRPr>
          </a:p>
          <a:p>
            <a:r>
              <a:rPr lang="en-US" sz="2000" cap="none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The analysis helps businesses make data-driven decisions to enhance customer satisfaction and operational efficiency.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64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1B90-621C-6018-772E-5CE8D3E6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8229600" cy="1556977"/>
          </a:xfrm>
        </p:spPr>
        <p:txBody>
          <a:bodyPr/>
          <a:lstStyle/>
          <a:p>
            <a:r>
              <a:rPr lang="en-US" b="1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Batang"/>
                <a:cs typeface="Times New Roman"/>
              </a:rPr>
              <a:t>Project Overview</a:t>
            </a:r>
            <a:endParaRPr lang="en-US" b="1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980A-BC2A-21B4-7561-F831D8E5B9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239065"/>
            <a:ext cx="8238648" cy="39177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marL="0" indent="0">
              <a:buNone/>
            </a:pPr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The CSAT analytics dashboard project aims to analyze customer satisfaction data and identify factors affecting customer experience. </a:t>
            </a:r>
          </a:p>
          <a:p>
            <a:pPr marL="0" indent="0">
              <a:buNone/>
            </a:pPr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This project uses power BI to transform raw customer interaction data into meaningful visual insights through dashboards and </a:t>
            </a:r>
            <a:r>
              <a:rPr lang="en-US" sz="2000" cap="none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kpis</a:t>
            </a:r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. </a:t>
            </a:r>
            <a:endParaRPr lang="en-US" sz="2000" cap="none">
              <a:solidFill>
                <a:schemeClr val="tx1">
                  <a:lumMod val="76000"/>
                  <a:lumOff val="24000"/>
                </a:schemeClr>
              </a:solidFill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The dashboard helps monitor customer satisfaction trends, analyze call patterns, and support better business decision-making.</a:t>
            </a:r>
            <a:endParaRPr lang="en-US" sz="2000" cap="none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33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43CD-1C62-BD3A-75CE-15448E42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711926"/>
            <a:ext cx="3651432" cy="3445521"/>
          </a:xfrm>
        </p:spPr>
        <p:txBody>
          <a:bodyPr/>
          <a:lstStyle/>
          <a:p>
            <a:r>
              <a:rPr lang="en-US" sz="4000" b="1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+mj-lt"/>
                <a:cs typeface="Times New Roman"/>
              </a:rPr>
              <a:t>Objectives</a:t>
            </a:r>
            <a:endParaRPr lang="en-US" sz="4000" b="1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A2E21AC-1F3C-5D9B-66B4-852273E9AB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Analyze customer satisfaction trends and customer feedback patterns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Create an interactive dashboard using Power BI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Monitor customer interaction and call performance metrics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Identify factors affecting customer satisfaction scores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Generate meaningful insights through data visualization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Support data-driven decision making for service improvement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445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AFAB9-48C3-061B-B994-0FA802A0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9608"/>
            <a:ext cx="11302322" cy="919162"/>
          </a:xfrm>
        </p:spPr>
        <p:txBody>
          <a:bodyPr/>
          <a:lstStyle/>
          <a:p>
            <a:r>
              <a:rPr lang="en-US" sz="4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+mj-lt"/>
                <a:cs typeface="Times New Roman"/>
              </a:rPr>
              <a:t>Motivation for Choosi</a:t>
            </a:r>
            <a:r>
              <a:rPr lang="en-US" sz="4000" b="1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+mj-lt"/>
                <a:cs typeface="Times New Roman"/>
              </a:rPr>
              <a:t>ng the Dataset</a:t>
            </a:r>
            <a:endParaRPr lang="en-US" sz="4000" b="1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B9BE-AA4A-A14F-D41E-F1B055F8956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740959"/>
            <a:ext cx="5074920" cy="47988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Why This Datase</a:t>
            </a:r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t?</a:t>
            </a:r>
            <a:endParaRPr lang="en-US" sz="2000" b="1" dirty="0">
              <a:solidFill>
                <a:schemeClr val="tx1">
                  <a:lumMod val="76000"/>
                  <a:lumOff val="24000"/>
                </a:schemeClr>
              </a:solidFill>
              <a:latin typeface="Aptos"/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Customer Satisfaction plays an important role in business success and customer retention.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 This dataset was chosen to understand customer behavior, analyze service quality, and identify factors affecting customer satisfaction.</a:t>
            </a:r>
          </a:p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 Working with this dataset provides real-world experience in data analysis, visualization, and business intelligence using Power BI.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9844-390A-AF17-10C0-C6A4D183260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Reasons for Selecting This Dataset</a:t>
            </a:r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: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Helps understand customer expectations and feedback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Useful for analyzing service performance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Provides real-world business problem-solving experience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Improves dashboard development and analytics skills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Supports data-driven decision making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3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312B-CC8D-4CEF-5195-D46FACDC9F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4938"/>
            <a:ext cx="10963275" cy="873125"/>
          </a:xfrm>
        </p:spPr>
        <p:txBody>
          <a:bodyPr/>
          <a:lstStyle/>
          <a:p>
            <a:r>
              <a:rPr lang="en-US" sz="4400" b="1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Batang"/>
                <a:cs typeface="Times New Roman"/>
              </a:rPr>
              <a:t>dashboard</a:t>
            </a:r>
            <a:endParaRPr lang="en-US" sz="4400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133209A9-9822-81D7-8735-98F12F9D0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" y="1029268"/>
            <a:ext cx="12183895" cy="582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61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B2F0-F899-C197-B5F3-3F75D2FB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latin typeface="Times New Roman"/>
                <a:ea typeface="+mj-lt"/>
                <a:cs typeface="Times New Roman"/>
              </a:rPr>
              <a:t>Methodology / Project Process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F8AA0-6C4C-4D14-9B9A-B3F10A8C46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789340"/>
            <a:ext cx="5087015" cy="438762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Step 1: Data Collection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Imported customer satisfaction dataset into Power BI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Step 2: Data Cleaning</a:t>
            </a:r>
            <a:endParaRPr lang="en-US" sz="2000" b="1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Removed null values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Corrected date formats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Fixed data type errors</a:t>
            </a:r>
            <a:endParaRPr lang="en-US" sz="16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Step 3: Data Transformation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Used Power Query for preprocessing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Created calculated columns and measures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sz="2000" dirty="0">
              <a:latin typeface="Aptos"/>
            </a:endParaRPr>
          </a:p>
          <a:p>
            <a:endParaRPr lang="en-US" dirty="0">
              <a:latin typeface="Batang"/>
              <a:ea typeface="Batang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1DAC5-9DEE-D8A4-FF65-D11971BAFF5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Step 4: KPI Creatio</a:t>
            </a: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n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Total Calls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CSAT Score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Satisfaction %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Average Response Time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Step 5: Dashboard Development</a:t>
            </a:r>
            <a:b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</a:br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Created visualizations and interactive reports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Step 6: Analysis &amp; Insights</a:t>
            </a:r>
            <a:endParaRPr lang="en-US" sz="2000" b="1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Identified trends and generated recommendations</a:t>
            </a:r>
            <a:endParaRPr lang="en-US" sz="2000" dirty="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sz="20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5078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7FCAC-B4DC-B47B-2710-AA4BFC75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33289"/>
            <a:ext cx="10963656" cy="891101"/>
          </a:xfrm>
        </p:spPr>
        <p:txBody>
          <a:bodyPr/>
          <a:lstStyle/>
          <a:p>
            <a:r>
              <a:rPr lang="en-US" sz="4000" b="1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Batang"/>
                <a:cs typeface="Times New Roman"/>
              </a:rPr>
              <a:t>Dashboard Overview</a:t>
            </a:r>
            <a:endParaRPr lang="en-US" sz="4000" b="1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D32DC-D971-A0D2-1382-4321D865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119673"/>
            <a:ext cx="10963656" cy="404519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The dashboard was developed using Power BI to visualize customer satisfaction metrics and customer interaction patterns. Multiple charts and KPI cards were used to provide meaningful insights and improve decision-making.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b="1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Dashboard Components:</a:t>
            </a:r>
            <a:endParaRPr lang="en-US" sz="2000" b="1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KPI Cards for performance metrics                    • Map Visualization for state-wise analysis     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Line Chart for call trends analysis                       • Bar Charts for category comparison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Doughnut Chart for channel distribution         • Interactive filters and slicers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sz="2000" dirty="0">
              <a:latin typeface="Apto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29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50BA6-ED17-EA9B-DA87-F2F1A99CAD9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3694" y="1374019"/>
            <a:ext cx="8136089" cy="3551087"/>
          </a:xfrm>
        </p:spPr>
        <p:txBody>
          <a:bodyPr/>
          <a:lstStyle/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j-lt"/>
                <a:cs typeface="+mj-lt"/>
              </a:rPr>
              <a:t>• Customer satisfaction scores showed an increasing trend over time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j-lt"/>
                <a:cs typeface="+mj-lt"/>
              </a:rPr>
              <a:t>• Phone channel handled the highest number of customer interactions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j-lt"/>
                <a:cs typeface="+mj-lt"/>
              </a:rPr>
              <a:t>• Faster response times resulted in better satisfaction scores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j-lt"/>
                <a:cs typeface="+mj-lt"/>
              </a:rPr>
              <a:t>• Some states showed higher customer engagement compared to others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j-lt"/>
                <a:cs typeface="+mj-lt"/>
              </a:rPr>
              <a:t>• Premium customer segments had higher satisfaction levels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r>
              <a:rPr lang="en-US" sz="2000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j-lt"/>
                <a:cs typeface="+mj-lt"/>
              </a:rPr>
              <a:t>• Peak call volumes were observed on specific weekdays</a:t>
            </a:r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sz="2000" dirty="0">
              <a:latin typeface="Aptos"/>
              <a:ea typeface="Batang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DEB8F-96B2-8C32-5757-CB114544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4" y="558540"/>
            <a:ext cx="7822972" cy="807554"/>
          </a:xfrm>
        </p:spPr>
        <p:txBody>
          <a:bodyPr/>
          <a:lstStyle/>
          <a:p>
            <a:r>
              <a:rPr lang="en-US" sz="4000" b="1">
                <a:latin typeface="Times New Roman"/>
                <a:ea typeface="Batang"/>
                <a:cs typeface="Times New Roman"/>
              </a:rPr>
              <a:t>Key Insights</a:t>
            </a:r>
            <a:endParaRPr lang="en-US" sz="4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3055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00835-6E19-7270-7A14-0ABD775D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47135"/>
            <a:ext cx="7162462" cy="2855541"/>
          </a:xfrm>
        </p:spPr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Recommendations 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0A49-7E37-1F61-D052-913FAAE93A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41095"/>
            <a:ext cx="9363667" cy="26086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cap="none" dirty="0">
                <a:solidFill>
                  <a:srgbClr val="404040"/>
                </a:solidFill>
                <a:latin typeface="Aptos"/>
                <a:ea typeface="+mn-lt"/>
                <a:cs typeface="+mn-lt"/>
              </a:rPr>
              <a:t>• Reduce customer response time to improve satisfaction levels</a:t>
            </a:r>
            <a:br>
              <a:rPr lang="en-US" sz="2000" cap="none" dirty="0">
                <a:latin typeface="Aptos"/>
                <a:ea typeface="+mn-lt"/>
                <a:cs typeface="+mn-lt"/>
              </a:rPr>
            </a:br>
            <a:r>
              <a:rPr lang="en-US" sz="2000" cap="none" dirty="0">
                <a:solidFill>
                  <a:srgbClr val="404040"/>
                </a:solidFill>
                <a:latin typeface="Aptos"/>
                <a:ea typeface="+mn-lt"/>
                <a:cs typeface="+mn-lt"/>
              </a:rPr>
              <a:t>• Focus on improving low-performing communication channels</a:t>
            </a:r>
            <a:br>
              <a:rPr lang="en-US" sz="2000" cap="none" dirty="0">
                <a:latin typeface="Aptos"/>
                <a:ea typeface="+mn-lt"/>
                <a:cs typeface="+mn-lt"/>
              </a:rPr>
            </a:br>
            <a:r>
              <a:rPr lang="en-US" sz="2000" cap="none" dirty="0">
                <a:solidFill>
                  <a:srgbClr val="404040"/>
                </a:solidFill>
                <a:latin typeface="Aptos"/>
                <a:ea typeface="+mn-lt"/>
                <a:cs typeface="+mn-lt"/>
              </a:rPr>
              <a:t>• Increase support resource</a:t>
            </a:r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s during peak call periods</a:t>
            </a:r>
            <a:br>
              <a:rPr lang="en-US" sz="2000" cap="none" dirty="0">
                <a:latin typeface="Aptos"/>
                <a:ea typeface="+mn-lt"/>
                <a:cs typeface="+mn-lt"/>
              </a:rPr>
            </a:br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• Monitor customer feedback regularly for continuous improveme</a:t>
            </a:r>
            <a:r>
              <a:rPr lang="en-US" sz="2000" cap="none" dirty="0">
                <a:solidFill>
                  <a:srgbClr val="404040"/>
                </a:solidFill>
                <a:latin typeface="Aptos"/>
                <a:ea typeface="+mn-lt"/>
                <a:cs typeface="+mn-lt"/>
              </a:rPr>
              <a:t>nt</a:t>
            </a:r>
            <a:br>
              <a:rPr lang="en-US" sz="2000" cap="none" dirty="0">
                <a:latin typeface="Aptos"/>
                <a:ea typeface="+mn-lt"/>
                <a:cs typeface="+mn-lt"/>
              </a:rPr>
            </a:br>
            <a:r>
              <a:rPr lang="en-US" sz="2000" cap="none" dirty="0">
                <a:solidFill>
                  <a:srgbClr val="404040"/>
                </a:solidFill>
                <a:latin typeface="Aptos"/>
                <a:ea typeface="+mn-lt"/>
                <a:cs typeface="+mn-lt"/>
              </a:rPr>
              <a:t>• Use dashboard insights for better busi</a:t>
            </a:r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ness decisions</a:t>
            </a:r>
            <a:endParaRPr lang="en-US" sz="2000" cap="none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242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BF1B-B248-8AFC-B5B5-48994F65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Conclusion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A7D6-497F-6920-6354-5CB06AF8D2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cap="none" dirty="0">
                <a:solidFill>
                  <a:schemeClr val="tx1">
                    <a:lumMod val="76000"/>
                    <a:lumOff val="24000"/>
                  </a:schemeClr>
                </a:solidFill>
                <a:latin typeface="Aptos"/>
                <a:ea typeface="+mn-lt"/>
                <a:cs typeface="+mn-lt"/>
              </a:rPr>
              <a:t>The CSAT analytics dashboard successfully transformed raw customer data into meaningful insights using power BI. The project helped analyze customer satisfaction trends, identify performance gaps, and support data-driven decision making for improving customer experience and service quality.</a:t>
            </a:r>
            <a:endParaRPr lang="en-US" sz="2000" cap="none" dirty="0">
              <a:solidFill>
                <a:schemeClr val="tx1">
                  <a:lumMod val="76000"/>
                  <a:lumOff val="24000"/>
                </a:schemeClr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29740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3112-D51F-EFFB-6748-9CFC57FF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991226"/>
            <a:ext cx="10963655" cy="882877"/>
          </a:xfrm>
        </p:spPr>
        <p:txBody>
          <a:bodyPr/>
          <a:lstStyle/>
          <a:p>
            <a:pPr algn="ctr"/>
            <a:r>
              <a:rPr lang="en-US" sz="5400" b="1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Batang"/>
                <a:cs typeface="Times New Roman"/>
              </a:rPr>
              <a:t>Thank you</a:t>
            </a:r>
            <a:endParaRPr lang="en-US" sz="5400" b="1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95274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230e9df3-be65-4c73-a93b-d1236ebd677e"/>
    <ds:schemaRef ds:uri="http://schemas.microsoft.com/sharepoint/v3"/>
    <ds:schemaRef ds:uri="http://purl.org/dc/dcmitype/"/>
    <ds:schemaRef ds:uri="71af3243-3dd4-4a8d-8c0d-dd76da1f02a5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Widescreen</PresentationFormat>
  <Paragraphs>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Wisp</vt:lpstr>
      <vt:lpstr>CSAT Analytics Dashboard</vt:lpstr>
      <vt:lpstr>Introduction</vt:lpstr>
      <vt:lpstr>Project Overview</vt:lpstr>
      <vt:lpstr>Objectives</vt:lpstr>
      <vt:lpstr>Motivation for Choosing the Dataset</vt:lpstr>
      <vt:lpstr>dashboard</vt:lpstr>
      <vt:lpstr>Methodology / Project Process</vt:lpstr>
      <vt:lpstr>Dashboard Overview</vt:lpstr>
      <vt:lpstr>Key Insights</vt:lpstr>
      <vt:lpstr>Recommendations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567</cp:revision>
  <dcterms:created xsi:type="dcterms:W3CDTF">2026-05-29T17:02:16Z</dcterms:created>
  <dcterms:modified xsi:type="dcterms:W3CDTF">2026-06-05T10:12:52Z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